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2"/>
    <p:sldId id="260" r:id="rId3"/>
    <p:sldId id="261" r:id="rId4"/>
    <p:sldId id="262" r:id="rId5"/>
    <p:sldId id="271" r:id="rId6"/>
    <p:sldId id="266" r:id="rId7"/>
    <p:sldId id="263" r:id="rId8"/>
    <p:sldId id="264" r:id="rId9"/>
    <p:sldId id="265" r:id="rId10"/>
    <p:sldId id="267" r:id="rId11"/>
    <p:sldId id="270" r:id="rId12"/>
    <p:sldId id="256" r:id="rId13"/>
    <p:sldId id="258" r:id="rId14"/>
    <p:sldId id="257" r:id="rId15"/>
    <p:sldId id="259" r:id="rId16"/>
    <p:sldId id="268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711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676" y="10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pecagent.wumiaox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AA73CB-2A00-C267-CF77-7E51DBF61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2128837"/>
            <a:ext cx="12192000" cy="1300163"/>
          </a:xfrm>
        </p:spPr>
        <p:txBody>
          <a:bodyPr>
            <a:normAutofit/>
          </a:bodyPr>
          <a:lstStyle/>
          <a:p>
            <a:r>
              <a:rPr lang="en-US" altLang="zh-CN" dirty="0"/>
              <a:t>AI</a:t>
            </a:r>
            <a:r>
              <a:rPr lang="zh-CN" altLang="en-US" dirty="0"/>
              <a:t>工具链、数据库和实验平台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AB8900-C715-AC86-139D-7BAA8F0B3FCC}"/>
              </a:ext>
            </a:extLst>
          </p:cNvPr>
          <p:cNvSpPr txBox="1"/>
          <p:nvPr/>
        </p:nvSpPr>
        <p:spPr>
          <a:xfrm>
            <a:off x="4857749" y="3932893"/>
            <a:ext cx="247649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/>
              <a:t>方奕凯</a:t>
            </a:r>
            <a:endParaRPr lang="en-US" altLang="zh-CN" sz="3200" dirty="0"/>
          </a:p>
          <a:p>
            <a:pPr algn="ctr"/>
            <a:r>
              <a:rPr lang="en-US" altLang="zh-CN" sz="3200" dirty="0"/>
              <a:t>2026/05/29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582920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F5D3D36-7E74-21A7-C31D-698525A11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67" y="79062"/>
            <a:ext cx="11176000" cy="613260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1870F27-B43B-86BA-854F-84B99129CEBB}"/>
              </a:ext>
            </a:extLst>
          </p:cNvPr>
          <p:cNvSpPr txBox="1"/>
          <p:nvPr/>
        </p:nvSpPr>
        <p:spPr>
          <a:xfrm>
            <a:off x="4004735" y="585560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hlinkClick r:id="rId3"/>
              </a:rPr>
              <a:t>https://specagent.wumiaox.com/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379502D-5307-F884-4CDD-190E16A855C3}"/>
              </a:ext>
            </a:extLst>
          </p:cNvPr>
          <p:cNvSpPr txBox="1"/>
          <p:nvPr/>
        </p:nvSpPr>
        <p:spPr>
          <a:xfrm>
            <a:off x="4004735" y="631727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hlinkClick r:id="rId3"/>
              </a:rPr>
              <a:t>https://speclabos.wumiaox.com/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857074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B11B058-9EFF-D1BB-0AEE-63AB9CA8B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E4B4FA64-915C-74B3-F31F-5C5B41EA1B25}"/>
              </a:ext>
            </a:extLst>
          </p:cNvPr>
          <p:cNvSpPr/>
          <p:nvPr/>
        </p:nvSpPr>
        <p:spPr>
          <a:xfrm>
            <a:off x="7916333" y="50800"/>
            <a:ext cx="4106334" cy="1337733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/>
              <a:t>模型调用</a:t>
            </a:r>
            <a:r>
              <a:rPr lang="en-US" altLang="zh-CN" b="1" dirty="0"/>
              <a:t>CASE1-</a:t>
            </a:r>
            <a:r>
              <a:rPr lang="zh-CN" altLang="en-US" b="1" dirty="0"/>
              <a:t>外部模型</a:t>
            </a:r>
            <a:r>
              <a:rPr lang="en-US" altLang="zh-CN" b="1" dirty="0"/>
              <a:t>NMR SOLVER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1.NMR</a:t>
            </a:r>
            <a:r>
              <a:rPr lang="zh-CN" altLang="en-US" dirty="0"/>
              <a:t>解谱服务在嘉庚本地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2.</a:t>
            </a:r>
            <a:r>
              <a:rPr lang="zh-CN" altLang="en-US" dirty="0"/>
              <a:t>模型权重在北京深势</a:t>
            </a:r>
          </a:p>
        </p:txBody>
      </p:sp>
    </p:spTree>
    <p:extLst>
      <p:ext uri="{BB962C8B-B14F-4D97-AF65-F5344CB8AC3E}">
        <p14:creationId xmlns:p14="http://schemas.microsoft.com/office/powerpoint/2010/main" val="3986996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093F0-4EFB-058B-5EC6-1CEB04839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8540B32-6E36-EF4E-D5DA-CA71C945E8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88405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9E32BE2A-904B-85C9-4EAB-8126B3787D87}"/>
              </a:ext>
            </a:extLst>
          </p:cNvPr>
          <p:cNvSpPr/>
          <p:nvPr/>
        </p:nvSpPr>
        <p:spPr>
          <a:xfrm>
            <a:off x="7933267" y="50800"/>
            <a:ext cx="4089400" cy="1337733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/>
              <a:t>模型调用</a:t>
            </a:r>
            <a:r>
              <a:rPr lang="en-US" altLang="zh-CN" b="1" dirty="0"/>
              <a:t>CASE2-</a:t>
            </a:r>
            <a:r>
              <a:rPr lang="zh-CN" altLang="en-US" b="1" dirty="0"/>
              <a:t>自研模型</a:t>
            </a:r>
            <a:r>
              <a:rPr lang="en-US" altLang="zh-CN" b="1" dirty="0"/>
              <a:t>Raman</a:t>
            </a:r>
            <a:r>
              <a:rPr lang="zh-CN" altLang="en-US" b="1" dirty="0"/>
              <a:t>解谱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dirty="0"/>
              <a:t>1.Raman</a:t>
            </a:r>
            <a:r>
              <a:rPr lang="zh-CN" altLang="en-US" dirty="0"/>
              <a:t>解谱服务在嘉庚本地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2.</a:t>
            </a:r>
            <a:r>
              <a:rPr lang="zh-CN" altLang="en-US" dirty="0"/>
              <a:t>模型权重在嘉庚本地</a:t>
            </a:r>
          </a:p>
        </p:txBody>
      </p:sp>
    </p:spTree>
    <p:extLst>
      <p:ext uri="{BB962C8B-B14F-4D97-AF65-F5344CB8AC3E}">
        <p14:creationId xmlns:p14="http://schemas.microsoft.com/office/powerpoint/2010/main" val="224576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CDEAEA1-AB9B-E120-5D45-D5FD3655E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23A6CB28-9EA5-C028-0CF3-6FDE759A2E59}"/>
              </a:ext>
            </a:extLst>
          </p:cNvPr>
          <p:cNvSpPr/>
          <p:nvPr/>
        </p:nvSpPr>
        <p:spPr>
          <a:xfrm>
            <a:off x="9660467" y="50800"/>
            <a:ext cx="2362200" cy="1337733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/>
              <a:t>模型调用</a:t>
            </a:r>
            <a:r>
              <a:rPr lang="en-US" altLang="zh-CN" b="1" dirty="0"/>
              <a:t>CASE-LLM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LLM</a:t>
            </a:r>
            <a:r>
              <a:rPr lang="zh-CN" altLang="en-US" dirty="0"/>
              <a:t>问答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00342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4607C-260B-17A3-F7AA-C8182B79B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47EEE9-32B2-A28E-9E5C-3FA7BCDF3C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07200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F8AD30A3-A470-4B3F-6A0E-20A0CEAC7C38}"/>
              </a:ext>
            </a:extLst>
          </p:cNvPr>
          <p:cNvSpPr/>
          <p:nvPr/>
        </p:nvSpPr>
        <p:spPr>
          <a:xfrm>
            <a:off x="8686801" y="50801"/>
            <a:ext cx="3335866" cy="101600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/>
              <a:t>模型调用</a:t>
            </a:r>
            <a:r>
              <a:rPr lang="en-US" altLang="zh-CN" b="1" dirty="0"/>
              <a:t>-</a:t>
            </a:r>
            <a:r>
              <a:rPr lang="zh-CN" altLang="en-US" b="1" dirty="0"/>
              <a:t>任务队列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dirty="0"/>
              <a:t>MongoDB + Celery + RabbitMQ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8598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F8F9B-EDD3-5914-B91B-CEDE554ED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119B550-0A83-E48B-8998-8E76A598F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2925"/>
            <a:ext cx="12192000" cy="5772150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1CDECD61-B63D-9121-E231-86DD747E0B5A}"/>
              </a:ext>
            </a:extLst>
          </p:cNvPr>
          <p:cNvSpPr/>
          <p:nvPr/>
        </p:nvSpPr>
        <p:spPr>
          <a:xfrm>
            <a:off x="8500534" y="76200"/>
            <a:ext cx="3505200" cy="133773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/>
              <a:t>实验耦合</a:t>
            </a:r>
            <a:r>
              <a:rPr lang="en-US" altLang="zh-CN" b="1" dirty="0"/>
              <a:t>CASE1-</a:t>
            </a:r>
            <a:r>
              <a:rPr lang="zh-CN" altLang="en-US" b="1" dirty="0"/>
              <a:t>光刻胶优化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dirty="0"/>
              <a:t>1.</a:t>
            </a:r>
            <a:r>
              <a:rPr lang="zh-CN" altLang="en-US" dirty="0"/>
              <a:t>参数下发在上海</a:t>
            </a:r>
            <a:r>
              <a:rPr lang="en-US" altLang="zh-CN" dirty="0"/>
              <a:t>PJ</a:t>
            </a:r>
            <a:r>
              <a:rPr lang="zh-CN" altLang="en-US" dirty="0"/>
              <a:t>实验室</a:t>
            </a:r>
            <a:r>
              <a:rPr lang="en-US" altLang="zh-CN" dirty="0"/>
              <a:t>-SCP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2.</a:t>
            </a:r>
            <a:r>
              <a:rPr lang="zh-CN" altLang="en-US" dirty="0"/>
              <a:t>指令编排执行服务在嘉庚本地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64FED4-4C13-1036-396B-8E8D81E163CC}"/>
              </a:ext>
            </a:extLst>
          </p:cNvPr>
          <p:cNvSpPr/>
          <p:nvPr/>
        </p:nvSpPr>
        <p:spPr>
          <a:xfrm>
            <a:off x="6561667" y="5113866"/>
            <a:ext cx="5283201" cy="838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D2145C2-A78C-B163-D046-1313BD7A54F0}"/>
              </a:ext>
            </a:extLst>
          </p:cNvPr>
          <p:cNvSpPr/>
          <p:nvPr/>
        </p:nvSpPr>
        <p:spPr>
          <a:xfrm>
            <a:off x="8754533" y="4783667"/>
            <a:ext cx="1219200" cy="3301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LLM</a:t>
            </a:r>
            <a:r>
              <a:rPr lang="zh-CN" altLang="en-US" dirty="0"/>
              <a:t>编排</a:t>
            </a:r>
          </a:p>
        </p:txBody>
      </p:sp>
    </p:spTree>
    <p:extLst>
      <p:ext uri="{BB962C8B-B14F-4D97-AF65-F5344CB8AC3E}">
        <p14:creationId xmlns:p14="http://schemas.microsoft.com/office/powerpoint/2010/main" val="448667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94F12-0748-9B86-C4E1-D537C4335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0D4C785-224D-52C8-6F21-57EE05A32D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2925"/>
            <a:ext cx="12192000" cy="5772150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6BDD00AC-E268-FBB0-8BC9-BCBAB1927E48}"/>
              </a:ext>
            </a:extLst>
          </p:cNvPr>
          <p:cNvSpPr/>
          <p:nvPr/>
        </p:nvSpPr>
        <p:spPr>
          <a:xfrm>
            <a:off x="8500534" y="76200"/>
            <a:ext cx="3505200" cy="133773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/>
              <a:t>实验耦合</a:t>
            </a:r>
            <a:r>
              <a:rPr lang="en-US" altLang="zh-CN" b="1" dirty="0"/>
              <a:t>CASE2-Raman</a:t>
            </a:r>
            <a:r>
              <a:rPr lang="zh-CN" altLang="en-US" b="1" dirty="0"/>
              <a:t>远程控制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dirty="0"/>
              <a:t>1.</a:t>
            </a:r>
            <a:r>
              <a:rPr lang="zh-CN" altLang="en-US" dirty="0"/>
              <a:t>参数下发服务在嘉庚本地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2.</a:t>
            </a:r>
            <a:r>
              <a:rPr lang="zh-CN" altLang="en-US" dirty="0"/>
              <a:t>指令编排执行服务在嘉庚本地</a:t>
            </a:r>
          </a:p>
        </p:txBody>
      </p:sp>
    </p:spTree>
    <p:extLst>
      <p:ext uri="{BB962C8B-B14F-4D97-AF65-F5344CB8AC3E}">
        <p14:creationId xmlns:p14="http://schemas.microsoft.com/office/powerpoint/2010/main" val="257149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E5E8C-5FCF-424D-0DFF-2AC5D0DE2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FF9A42F-DBE0-5418-92BB-48ED9D9C5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2925"/>
            <a:ext cx="12192000" cy="5772150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5A5415CC-8859-9CA2-8233-FD38DDB1AC11}"/>
              </a:ext>
            </a:extLst>
          </p:cNvPr>
          <p:cNvSpPr/>
          <p:nvPr/>
        </p:nvSpPr>
        <p:spPr>
          <a:xfrm>
            <a:off x="8500534" y="76200"/>
            <a:ext cx="3505200" cy="133773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/>
              <a:t>实验耦合</a:t>
            </a:r>
            <a:r>
              <a:rPr lang="en-US" altLang="zh-CN" b="1" dirty="0"/>
              <a:t>CASE3-Raman</a:t>
            </a:r>
            <a:r>
              <a:rPr lang="zh-CN" altLang="en-US" b="1" dirty="0"/>
              <a:t>参数采集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dirty="0"/>
              <a:t>1.</a:t>
            </a:r>
            <a:r>
              <a:rPr lang="zh-CN" altLang="en-US" dirty="0"/>
              <a:t>数据采集在嘉庚本地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2.</a:t>
            </a:r>
            <a:r>
              <a:rPr lang="zh-CN" altLang="en-US" dirty="0"/>
              <a:t>参数回传服务在嘉庚本地</a:t>
            </a:r>
          </a:p>
        </p:txBody>
      </p:sp>
    </p:spTree>
    <p:extLst>
      <p:ext uri="{BB962C8B-B14F-4D97-AF65-F5344CB8AC3E}">
        <p14:creationId xmlns:p14="http://schemas.microsoft.com/office/powerpoint/2010/main" val="761278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31371-F328-915F-D7C5-59B056734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1047A74-556B-9DF3-9CD9-FE53EF7016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2925"/>
            <a:ext cx="12192000" cy="577215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09476F71-B662-C8BB-188E-C1F6C355C75F}"/>
              </a:ext>
            </a:extLst>
          </p:cNvPr>
          <p:cNvSpPr/>
          <p:nvPr/>
        </p:nvSpPr>
        <p:spPr>
          <a:xfrm>
            <a:off x="8686801" y="50800"/>
            <a:ext cx="3335866" cy="1083733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/>
              <a:t>实验编排</a:t>
            </a:r>
            <a:r>
              <a:rPr lang="en-US" altLang="zh-CN" b="1" dirty="0"/>
              <a:t>-</a:t>
            </a:r>
            <a:r>
              <a:rPr lang="zh-CN" altLang="en-US" b="1" dirty="0"/>
              <a:t>任务队列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dirty="0"/>
              <a:t>MongoDB + Celery + RabbitMQ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9783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7A495EB-3EBC-4F3B-0F79-90B7C55B0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CC7E0E04-8048-15B5-820F-A0D0B3544892}"/>
              </a:ext>
            </a:extLst>
          </p:cNvPr>
          <p:cNvSpPr/>
          <p:nvPr/>
        </p:nvSpPr>
        <p:spPr>
          <a:xfrm>
            <a:off x="10371668" y="76200"/>
            <a:ext cx="1481666" cy="1083733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/>
              <a:t>数据资产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en-US" altLang="zh-CN" b="1" dirty="0"/>
              <a:t>MongoDB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5524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E13EF37-3462-AC92-4FB2-7DFADC0CE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941"/>
            <a:ext cx="12192000" cy="669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046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AB3B4E0-B11A-96A5-A299-09A90403F0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276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9E2221A-0B9C-D754-212F-C8CC055DD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74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BEF5B53-3B23-30BE-011D-0DB0C86A5B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2FB656B-F345-6626-5212-18F1C0903C45}"/>
              </a:ext>
            </a:extLst>
          </p:cNvPr>
          <p:cNvCxnSpPr>
            <a:cxnSpLocks/>
          </p:cNvCxnSpPr>
          <p:nvPr/>
        </p:nvCxnSpPr>
        <p:spPr>
          <a:xfrm>
            <a:off x="9601200" y="1337733"/>
            <a:ext cx="584200" cy="643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EFD3C0F-1A31-DA96-B62F-0FE27A41FFB7}"/>
              </a:ext>
            </a:extLst>
          </p:cNvPr>
          <p:cNvCxnSpPr>
            <a:cxnSpLocks/>
          </p:cNvCxnSpPr>
          <p:nvPr/>
        </p:nvCxnSpPr>
        <p:spPr>
          <a:xfrm>
            <a:off x="6671733" y="1337733"/>
            <a:ext cx="584200" cy="643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5F60763-1B2C-62F8-6A4C-263A84A5E058}"/>
              </a:ext>
            </a:extLst>
          </p:cNvPr>
          <p:cNvCxnSpPr>
            <a:cxnSpLocks/>
          </p:cNvCxnSpPr>
          <p:nvPr/>
        </p:nvCxnSpPr>
        <p:spPr>
          <a:xfrm>
            <a:off x="3403600" y="1337732"/>
            <a:ext cx="584200" cy="643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545246B-3AD0-6124-DEF1-9C316E218231}"/>
              </a:ext>
            </a:extLst>
          </p:cNvPr>
          <p:cNvCxnSpPr>
            <a:cxnSpLocks/>
          </p:cNvCxnSpPr>
          <p:nvPr/>
        </p:nvCxnSpPr>
        <p:spPr>
          <a:xfrm>
            <a:off x="427567" y="1337732"/>
            <a:ext cx="584200" cy="643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E7CF02D1-B43E-7EB3-ABF6-DA38324628DB}"/>
              </a:ext>
            </a:extLst>
          </p:cNvPr>
          <p:cNvSpPr txBox="1"/>
          <p:nvPr/>
        </p:nvSpPr>
        <p:spPr>
          <a:xfrm>
            <a:off x="93133" y="93133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奕凯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A1A48B7-0BBD-C0BC-82B9-69B62190E567}"/>
              </a:ext>
            </a:extLst>
          </p:cNvPr>
          <p:cNvSpPr txBox="1"/>
          <p:nvPr/>
        </p:nvSpPr>
        <p:spPr>
          <a:xfrm>
            <a:off x="3049369" y="93133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奕凯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8560E1E-C5E9-377A-3E47-8ECA4A4DE236}"/>
              </a:ext>
            </a:extLst>
          </p:cNvPr>
          <p:cNvSpPr txBox="1"/>
          <p:nvPr/>
        </p:nvSpPr>
        <p:spPr>
          <a:xfrm>
            <a:off x="5466773" y="968400"/>
            <a:ext cx="2707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偏工艺：奕凯</a:t>
            </a:r>
            <a:r>
              <a:rPr lang="en-US" altLang="zh-CN" b="1" dirty="0"/>
              <a:t>+</a:t>
            </a:r>
            <a:r>
              <a:rPr lang="zh-CN" altLang="en-US" b="1" dirty="0"/>
              <a:t>紫芹</a:t>
            </a:r>
            <a:r>
              <a:rPr lang="en-US" altLang="zh-CN" b="1" dirty="0"/>
              <a:t>/</a:t>
            </a:r>
            <a:r>
              <a:rPr lang="zh-CN" altLang="en-US" b="1" dirty="0"/>
              <a:t>绍平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A30F071-ABE3-2266-9387-96FFCA79E2E7}"/>
              </a:ext>
            </a:extLst>
          </p:cNvPr>
          <p:cNvSpPr txBox="1"/>
          <p:nvPr/>
        </p:nvSpPr>
        <p:spPr>
          <a:xfrm>
            <a:off x="8830023" y="931333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偏模型：奕凯</a:t>
            </a:r>
            <a:r>
              <a:rPr lang="en-US" altLang="zh-CN" b="1" dirty="0"/>
              <a:t>+</a:t>
            </a:r>
            <a:r>
              <a:rPr lang="zh-CN" altLang="en-US" b="1" dirty="0"/>
              <a:t>梁柱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8417835E-28DA-A82C-29C7-929546E320BF}"/>
              </a:ext>
            </a:extLst>
          </p:cNvPr>
          <p:cNvCxnSpPr>
            <a:cxnSpLocks/>
          </p:cNvCxnSpPr>
          <p:nvPr/>
        </p:nvCxnSpPr>
        <p:spPr>
          <a:xfrm flipV="1">
            <a:off x="3049369" y="5027507"/>
            <a:ext cx="1141631" cy="1314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64368AD0-2C4B-AEF0-4E28-CCA7BD6705E5}"/>
              </a:ext>
            </a:extLst>
          </p:cNvPr>
          <p:cNvSpPr txBox="1"/>
          <p:nvPr/>
        </p:nvSpPr>
        <p:spPr>
          <a:xfrm>
            <a:off x="1591570" y="6365239"/>
            <a:ext cx="5198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本地</a:t>
            </a:r>
            <a:r>
              <a:rPr lang="en-US" altLang="zh-CN" b="1" dirty="0"/>
              <a:t>LLM</a:t>
            </a:r>
            <a:r>
              <a:rPr lang="zh-CN" altLang="en-US" b="1" dirty="0"/>
              <a:t>可以先接（谱图问答、光刻胶实验编排）</a:t>
            </a:r>
          </a:p>
        </p:txBody>
      </p:sp>
    </p:spTree>
    <p:extLst>
      <p:ext uri="{BB962C8B-B14F-4D97-AF65-F5344CB8AC3E}">
        <p14:creationId xmlns:p14="http://schemas.microsoft.com/office/powerpoint/2010/main" val="2126557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8F0BAF2-F87A-2522-10C8-98AD5376DC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" y="0"/>
            <a:ext cx="12185521" cy="68580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E2AFDAC-86ED-B329-D9F2-FBA6A7C4E262}"/>
              </a:ext>
            </a:extLst>
          </p:cNvPr>
          <p:cNvSpPr txBox="1"/>
          <p:nvPr/>
        </p:nvSpPr>
        <p:spPr>
          <a:xfrm>
            <a:off x="2768600" y="6146106"/>
            <a:ext cx="7408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+mj-ea"/>
                <a:ea typeface="+mj-ea"/>
              </a:rPr>
              <a:t>正在容器化打包迁移至华为服务器（生产环境）</a:t>
            </a:r>
            <a:r>
              <a:rPr lang="en-US" altLang="zh-CN" sz="2000" b="1" dirty="0">
                <a:latin typeface="+mj-ea"/>
                <a:ea typeface="+mj-ea"/>
              </a:rPr>
              <a:t>10.26.15.53:22</a:t>
            </a:r>
            <a:endParaRPr lang="zh-CN" altLang="en-US" sz="2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62450606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224</Words>
  <Application>Microsoft Office PowerPoint</Application>
  <PresentationFormat>宽屏</PresentationFormat>
  <Paragraphs>35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Arial</vt:lpstr>
      <vt:lpstr>Calibri</vt:lpstr>
      <vt:lpstr>WPS</vt:lpstr>
      <vt:lpstr>AI工具链、数据库和实验平台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方奕凯</dc:creator>
  <cp:lastModifiedBy>奕凯 方</cp:lastModifiedBy>
  <cp:revision>11</cp:revision>
  <dcterms:created xsi:type="dcterms:W3CDTF">2023-08-09T12:44:00Z</dcterms:created>
  <dcterms:modified xsi:type="dcterms:W3CDTF">2026-05-28T09:43:31Z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